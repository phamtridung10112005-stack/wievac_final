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ctr"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1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Chi phí tương đối (1 = rẻ) — định hướng, chưa kiểm định</a:t>
            </a:r>
            <a:endParaRPr sz="21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 phí tương đối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3D6B99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D6F"/>
              </a:solidFill>
            </c:spPr>
          </c:dPt>
          <c:dPt>
            <c:idx val="2"/>
            <c:invertIfNegative val="0"/>
            <c:bubble3D val="0"/>
            <c:spPr>
              <a:solidFill>
                <a:srgbClr val="C47A2C"/>
              </a:solidFill>
            </c:spPr>
          </c:dPt>
          <c:dPt>
            <c:idx val="3"/>
            <c:invertIfNegative val="0"/>
            <c:bubble3D val="0"/>
            <c:spPr>
              <a:solidFill>
                <a:srgbClr val="1B3A5F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EXIT</c:v>
                </c:pt>
                <c:pt idx="1">
                  <c:v>WiEvac</c:v>
                </c:pt>
                <c:pt idx="2">
                  <c:v>Camera</c:v>
                </c:pt>
                <c:pt idx="3">
                  <c:v>Radar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100" b="0" i="0" u="none" strike="noStrike" kern="1200" baseline="0">
                <a:solidFill>
                  <a:srgbClr val="1F1F1F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7e28aba-0518-46c2-9815-01e3671cf932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ctr"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1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Linh kiện và giá gói (triệu VNĐ)</a:t>
            </a:r>
            <a:endParaRPr sz="21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Linh kiện</c:v>
                </c:pt>
              </c:strCache>
            </c:strRef>
          </c:tx>
          <c:spPr>
            <a:solidFill>
              <a:srgbClr val="1B3A5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Mini</c:v>
                </c:pt>
                <c:pt idx="1">
                  <c:v>Standard</c:v>
                </c:pt>
                <c:pt idx="2">
                  <c:v>Plus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Giá gói</c:v>
                </c:pt>
              </c:strCache>
            </c:strRef>
          </c:tx>
          <c:spPr>
            <a:solidFill>
              <a:srgbClr val="2E7D6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Mini</c:v>
                </c:pt>
                <c:pt idx="1">
                  <c:v>Standard</c:v>
                </c:pt>
                <c:pt idx="2">
                  <c:v>Plus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</c:v>
                </c:pt>
                <c:pt idx="1">
                  <c:v>50</c:v>
                </c:pt>
                <c:pt idx="2">
                  <c:v>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100" b="0" i="0" u="none" strike="noStrike" kern="1200" baseline="0">
                <a:solidFill>
                  <a:srgbClr val="1F1F1F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2100" b="0" i="0" u="none" strike="noStrike" kern="1200" baseline="0">
              <a:solidFill>
                <a:srgbClr val="1F1F1F"/>
              </a:solidFill>
              <a:latin typeface="Times New Roman" panose="02020603050405020304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9b27f65-54b8-44b2-a948-4928a579dde1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ctr"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1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Quy mô lắp (số gói / tòa)</a:t>
            </a:r>
            <a:endParaRPr sz="21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công trình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B3A5F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D6F"/>
              </a:solidFill>
            </c:spPr>
          </c:dPt>
          <c:dPt>
            <c:idx val="2"/>
            <c:invertIfNegative val="0"/>
            <c:bubble3D val="0"/>
            <c:spPr>
              <a:solidFill>
                <a:srgbClr val="C47A2C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100" b="0" i="0" u="none" strike="noStrike" kern="1200" baseline="0">
                <a:solidFill>
                  <a:srgbClr val="1F1F1F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8ad33e0b-4f76-4693-94ba-ad49e030d94a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ctr"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1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Doanh thu gói — 65 / 200 / 650</a:t>
            </a:r>
            <a:endParaRPr sz="21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Triệu VNĐ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B3A5F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D6F"/>
              </a:solidFill>
            </c:spPr>
          </c:dPt>
          <c:dPt>
            <c:idx val="2"/>
            <c:invertIfNegative val="0"/>
            <c:bubble3D val="0"/>
            <c:spPr>
              <a:solidFill>
                <a:srgbClr val="C47A2C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200</c:v>
                </c:pt>
                <c:pt idx="2">
                  <c:v>650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100" b="0" i="0" u="none" strike="noStrike" kern="1200" baseline="0">
                <a:solidFill>
                  <a:srgbClr val="1F1F1F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5198999a-527e-4dae-8618-36409ca9a6e6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ctr"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1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Phân bổ 120 triệu — mua node ~250k và server ~5,6 triệu</a:t>
            </a:r>
            <a:endParaRPr sz="21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Triệu VNĐ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3D6B99"/>
              </a:solidFill>
            </c:spPr>
          </c:dPt>
          <c:dPt>
            <c:idx val="1"/>
            <c:invertIfNegative val="0"/>
            <c:bubble3D val="0"/>
            <c:spPr>
              <a:solidFill>
                <a:srgbClr val="C47A2C"/>
              </a:solidFill>
            </c:spPr>
          </c:dPt>
          <c:dPt>
            <c:idx val="2"/>
            <c:invertIfNegative val="0"/>
            <c:bubble3D val="0"/>
            <c:spPr>
              <a:solidFill>
                <a:srgbClr val="2E7D6F"/>
              </a:solidFill>
            </c:spPr>
          </c:dPt>
          <c:dPt>
            <c:idx val="3"/>
            <c:invertIfNegative val="0"/>
            <c:bubble3D val="0"/>
            <c:spPr>
              <a:solidFill>
                <a:srgbClr val="1B3A5F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Demo</c:v>
                </c:pt>
                <c:pt idx="1">
                  <c:v>Hồ sơ</c:v>
                </c:pt>
                <c:pt idx="2">
                  <c:v>Hiện trường</c:v>
                </c:pt>
                <c:pt idx="3">
                  <c:v>Linh kiện &amp; vỏ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30</c:v>
                </c:pt>
                <c:pt idx="3">
                  <c:v>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2100" b="0" i="0" u="none" strike="noStrike" kern="1200" baseline="0">
                <a:solidFill>
                  <a:srgbClr val="1F1F1F"/>
                </a:solidFill>
                <a:latin typeface="Times New Roman" panose="020206030504050203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1c457ec-33c8-4462-97cd-08490002d4ab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iaBa-UTEHY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09" y="331948"/>
            <a:ext cx="6464263" cy="6993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RUONG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09" y="331948"/>
            <a:ext cx="6464263" cy="6993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OA CƠ KHÍ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  <p:pic>
        <p:nvPicPr>
          <p:cNvPr id="17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3175" y="329805"/>
            <a:ext cx="6048819" cy="8310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OA CKDL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172" y="329805"/>
            <a:ext cx="6048826" cy="83102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 May &amp;TT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175" y="329805"/>
            <a:ext cx="6048819" cy="83102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TT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175" y="329805"/>
            <a:ext cx="6048819" cy="8310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CB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178" y="329805"/>
            <a:ext cx="6048812" cy="8310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ĐT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178" y="329805"/>
            <a:ext cx="6048812" cy="83102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HH &amp;MT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178" y="334428"/>
            <a:ext cx="6048812" cy="82177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N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3289" y="334428"/>
            <a:ext cx="5988589" cy="82177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T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6831" y="334428"/>
            <a:ext cx="5981505" cy="82177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PKT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6831" y="334833"/>
            <a:ext cx="5981505" cy="82096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LCT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9782" y="334833"/>
            <a:ext cx="5975602" cy="82096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DTC&amp;QP">
    <p:spTree>
      <p:nvGrpSpPr>
        <p:cNvPr id="1" name=""/>
        <p:cNvGrpSpPr/>
        <p:nvPr/>
      </p:nvGrpSpPr>
      <p:grpSpPr/>
      <p:pic>
        <p:nvPicPr>
          <p:cNvPr id="1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buNone/>
              <a:defRPr sz="4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6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9782" y="338765"/>
            <a:ext cx="5975602" cy="81310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pic>
        <p:nvPicPr>
          <p:cNvPr id="8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29" y="0"/>
            <a:ext cx="12189542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19" y="1"/>
            <a:ext cx="9619238" cy="681036"/>
          </a:xfrm>
        </p:spPr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19" y="775504"/>
            <a:ext cx="11771791" cy="5401459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230819" y="6334918"/>
            <a:ext cx="2743200" cy="365125"/>
          </a:xfrm>
        </p:spPr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3734909" y="6356350"/>
            <a:ext cx="4114800" cy="365125"/>
          </a:xfrm>
        </p:spPr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9338569" y="6414022"/>
            <a:ext cx="2743200" cy="365125"/>
          </a:xfrm>
        </p:spPr>
        <p:txBody>
          <a:bodyPr/>
          <a:lstStyle>
            <a:lvl1pPr>
              <a:buNone/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/>
      <p:pic>
        <p:nvPicPr>
          <p:cNvPr id="9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29" y="0"/>
            <a:ext cx="12189542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19" y="1"/>
            <a:ext cx="9619238" cy="681036"/>
          </a:xfrm>
        </p:spPr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19" y="775504"/>
            <a:ext cx="11771791" cy="5401459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230819" y="6334918"/>
            <a:ext cx="2743200" cy="365125"/>
          </a:xfrm>
        </p:spPr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3734909" y="6356350"/>
            <a:ext cx="4114800" cy="365125"/>
          </a:xfrm>
        </p:spPr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9338569" y="6414022"/>
            <a:ext cx="2743200" cy="365125"/>
          </a:xfrm>
        </p:spPr>
        <p:txBody>
          <a:bodyPr/>
          <a:lstStyle>
            <a:lvl1pPr>
              <a:buNone/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/>
        </p:txBody>
      </p:sp>
      <p:pic>
        <p:nvPicPr>
          <p:cNvPr id="15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77" y="707671"/>
            <a:ext cx="12189541" cy="61500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6" name="Rectangle 5"/>
          <p:cNvSpPr>
            <a:spLocks noGrp="1"/>
          </p:cNvSpPr>
          <p:nvPr/>
        </p:nvSpPr>
        <p:spPr>
          <a:xfrm rot="2700000">
            <a:off x="5562600" y="1419637"/>
            <a:ext cx="549852" cy="549852"/>
          </a:xfrm>
          <a:prstGeom prst="rect">
            <a:avLst/>
          </a:prstGeom>
          <a:solidFill>
            <a:srgbClr val="00B0F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 rot="2700000">
            <a:off x="6114940" y="1830541"/>
            <a:ext cx="2482632" cy="2482632"/>
          </a:xfrm>
          <a:prstGeom prst="rect">
            <a:avLst/>
          </a:prstGeom>
          <a:solidFill>
            <a:srgbClr val="00B05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 rot="2700000">
            <a:off x="7770566" y="3339155"/>
            <a:ext cx="2125769" cy="2125769"/>
          </a:xfrm>
          <a:prstGeom prst="rect">
            <a:avLst/>
          </a:prstGeo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 rot="2700000">
            <a:off x="8716736" y="-212634"/>
            <a:ext cx="6568983" cy="656898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 rot="2700000">
            <a:off x="6938349" y="1823039"/>
            <a:ext cx="2497639" cy="2497639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 rot="2700000">
            <a:off x="6252511" y="4852849"/>
            <a:ext cx="777700" cy="7777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803" y="1"/>
            <a:ext cx="9028253" cy="68103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75504"/>
            <a:ext cx="10515600" cy="540145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17170" y="3582670"/>
            <a:ext cx="8347710" cy="2619375"/>
          </a:xfrm>
        </p:spPr>
        <p:txBody>
          <a:bodyPr wrap="square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SV-STARTUP 2025 – 2026</a:t>
            </a:r>
            <a:endParaRPr b="1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Sinh viên thực hiện: Nguyễn Tuấn Kiệt</a:t>
            </a:r>
            <a:endParaRPr sz="2100" b="1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Phạm </a:t>
            </a:r>
            <a:r>
              <a:rPr lang="en-US" sz="2100" b="1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</a:t>
            </a:r>
            <a:r>
              <a:rPr sz="2100" b="1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í Dũng    Đào Đình Yên</a:t>
            </a:r>
            <a:endParaRPr sz="2100" b="1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2100" b="1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Cao</a:t>
            </a:r>
            <a:r>
              <a:rPr sz="2100" b="1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Văn Hiến    Chử Quốc Hào</a:t>
            </a:r>
            <a:endParaRPr sz="2100" b="1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Giảng viên hướng dẫn: Nguyễn Anh Hải, Lê Ngọc Lành</a:t>
            </a:r>
            <a:endParaRPr sz="2100" b="1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WiEvac</a:t>
            </a:r>
            <a:endParaRPr sz="3600" b="1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Hệ thống hỗ trợ thoát hiểm bằng Wi-Fi CSI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Google Shape;465;p1"/>
          <p:cNvSpPr>
            <a:spLocks noGrp="1"/>
          </p:cNvSpPr>
          <p:nvPr>
            <p:ph type="dt" idx="10"/>
          </p:nvPr>
        </p:nvSpPr>
        <p:spPr>
          <a:xfrm>
            <a:off x="1426210" y="6567805"/>
            <a:ext cx="6941185" cy="27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>
                <a:solidFill>
                  <a:srgbClr val="4A4A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Khoa công nghệ thông tin, UTEHY</a:t>
            </a:r>
            <a:endParaRPr sz="1300">
              <a:solidFill>
                <a:schemeClr val="dk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1033145" y="6565900"/>
            <a:ext cx="10125075" cy="7620"/>
          </a:xfrm>
          <a:prstGeom prst="line">
            <a:avLst/>
          </a:prstGeom>
          <a:ln w="12700">
            <a:solidFill>
              <a:srgbClr val="FAB534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 Vấn đề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7040880" cy="32918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Nỗi đau khách hàng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152144"/>
            <a:ext cx="7040880" cy="987552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1463040"/>
            <a:ext cx="365760" cy="36576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" y="1316736"/>
            <a:ext cx="6208776" cy="71323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Khói làm mất tầm nhìn — EXIT và camera mất tác dụng.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2231136"/>
            <a:ext cx="7040880" cy="987552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2542032"/>
            <a:ext cx="365760" cy="36576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542032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" y="2395728"/>
            <a:ext cx="6208776" cy="71323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Thời gian thoát nạn rất ngắn — cần chỉ dẫn không cần ánh sáng.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1480" y="3310128"/>
            <a:ext cx="7040880" cy="987552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3621024"/>
            <a:ext cx="365760" cy="36576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6210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0704" y="3474720"/>
            <a:ext cx="6208776" cy="71323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Nhà trọ / CC mini không mua nổi radar PCCC.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07808" y="1124712"/>
            <a:ext cx="4169663" cy="3209544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ievac_fi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152144"/>
            <a:ext cx="4114800" cy="3154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462272"/>
            <a:ext cx="11338560" cy="31089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Phương án đang dùng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4809744"/>
            <a:ext cx="3657600" cy="1261872"/>
          </a:xfrm>
          <a:prstGeom prst="round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4882896"/>
            <a:ext cx="3438144" cy="365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Biển EXIT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1208" y="5266944"/>
            <a:ext cx="3438144" cy="69494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Rẻ, đã có sẵn — kém khi khói đặc.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51960" y="4809744"/>
            <a:ext cx="3657600" cy="1261872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4882896"/>
            <a:ext cx="3438144" cy="365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Camera / AI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61688" y="5266944"/>
            <a:ext cx="3438144" cy="69494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Đắt, cần máy chủ — khói che thì sụt.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92440" y="4809744"/>
            <a:ext cx="3657600" cy="1261872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7" y="4882896"/>
            <a:ext cx="3438144" cy="365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Radar nhập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02167" y="5266944"/>
            <a:ext cx="3438144" cy="69494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Tốt trong khói — ngoài tầm nhà trọ.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 Giải pháp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32918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Wi-Fi CSI trên ESP32-S3 → chấm thông thoáng hành lang → đổi hướng LED.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1170432"/>
            <a:ext cx="2761488" cy="1417320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1261872"/>
            <a:ext cx="2505456" cy="384048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 RF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3776" y="1682496"/>
            <a:ext cx="2505456" cy="76809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Sóng xuyên khói tốt hơn ánh sáng.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3145536" y="1691640"/>
            <a:ext cx="164592" cy="219456"/>
          </a:xfrm>
          <a:prstGeom prst="rightArrow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0128" y="1170432"/>
            <a:ext cx="2761488" cy="1417320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4" y="1261872"/>
            <a:ext cx="2505456" cy="384048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 Flex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38144" y="1682496"/>
            <a:ext cx="2505456" cy="76809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Lọc nhiễu, chấm điểm trên ESP32.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089904" y="1691640"/>
            <a:ext cx="164592" cy="219456"/>
          </a:xfrm>
          <a:prstGeom prst="rightArrow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54496" y="1170432"/>
            <a:ext cx="2761488" cy="1417320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261872"/>
            <a:ext cx="2505456" cy="384048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 Mesh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2512" y="1682496"/>
            <a:ext cx="2505456" cy="76809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Tự chuyển tiếp khi mất mạng.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9034272" y="1691640"/>
            <a:ext cx="164592" cy="219456"/>
          </a:xfrm>
          <a:prstGeom prst="rightArrow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98864" y="1170432"/>
            <a:ext cx="2761488" cy="1417320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261872"/>
            <a:ext cx="2505456" cy="384048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 LED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26880" y="1682496"/>
            <a:ext cx="2505456" cy="76809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Chỉ lối còn đi được. Không camera.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4048" y="2715768"/>
            <a:ext cx="7690104" cy="3300984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ievac_corrid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0"/>
            <a:ext cx="7635240" cy="324612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183879" y="2743200"/>
            <a:ext cx="3566160" cy="3246120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852928"/>
            <a:ext cx="3291840" cy="365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Lợi ích cụ thể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21040" y="3255264"/>
            <a:ext cx="3291840" cy="256032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Cư dân: có lối khi mất tầm nhìn.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Chủ nhà: không lắp camera hành lang.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Không thay báo cháy PCCC.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 Giá trị khác biệt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841248"/>
            <a:ext cx="3657600" cy="2011680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950976"/>
            <a:ext cx="3438144" cy="438912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Giá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8" y="1426464"/>
            <a:ext cx="3438144" cy="12801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Đắt hơn EXIT, rẻ hơn radar — vừa túi nhà trọ, CC mini.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1960" y="841248"/>
            <a:ext cx="3657600" cy="2011680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950976"/>
            <a:ext cx="3438144" cy="438912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Khi có khói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61688" y="1426464"/>
            <a:ext cx="3438144" cy="12801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Không phụ thuộc ống kính. Sóng CSI vẫn đo được hành lang.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841248"/>
            <a:ext cx="3657600" cy="2011680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7" y="950976"/>
            <a:ext cx="3438144" cy="438912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Tiện dụng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02167" y="1426464"/>
            <a:ext cx="3438144" cy="12801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Không thu hình. Mesh không dây. Dashboard chạy trong tòa.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20040" y="2999232"/>
          <a:ext cx="114757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 Bản đồ cạnh tranh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32918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Nhu cầu: chỉ lối khi có khói, với giá lắp được cho dân sinh.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08760" y="1207008"/>
            <a:ext cx="4709160" cy="2011680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1298448"/>
            <a:ext cx="4526280" cy="384048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WiEvac — dân sinh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8488" y="1700784"/>
            <a:ext cx="4526280" cy="14081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Vừa túi + vẫn chỉ dẫn được khi có khói.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46520" y="1207008"/>
            <a:ext cx="4709160" cy="2011680"/>
          </a:xfrm>
          <a:prstGeom prst="roundRect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298448"/>
            <a:ext cx="4526280" cy="384048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Radar — cao ốc A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56248" y="1700784"/>
            <a:ext cx="4526280" cy="14081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Tốt trong khói, giá rất cao.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08760" y="3401568"/>
            <a:ext cx="4709160" cy="2011680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8488" y="3493008"/>
            <a:ext cx="4526280" cy="384048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EXIT — rẻ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18488" y="3895344"/>
            <a:ext cx="4526280" cy="14081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Đã có sẵn, kém khi khói đặc.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46520" y="3401568"/>
            <a:ext cx="4709160" cy="2011680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493008"/>
            <a:ext cx="4526280" cy="384048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Camera / AI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56248" y="3895344"/>
            <a:ext cx="4526280" cy="14081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Chi phí cao, kém khi khói che ống kính.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5559552"/>
            <a:ext cx="11338560" cy="50292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Radar vẫn mạnh hơn về thiết bị PCCC. WiEvac không tranh cao ốc hạng A.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5. Marketing &amp; sale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347472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Tìm và tiếp cận khách hàng — từ gần đến xa, thử rồi mới bán.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1243584"/>
            <a:ext cx="2761488" cy="3520440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63624" y="1444752"/>
            <a:ext cx="365760" cy="36576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63624" y="1444752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5488" y="1938528"/>
            <a:ext cx="2542032" cy="6400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B2B gần trường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5488" y="2633472"/>
            <a:ext cx="2542032" cy="17830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Chủ nhà trọ, CC mini Hưng Yên – Hà Nội.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145536" y="2697480"/>
            <a:ext cx="164592" cy="219456"/>
          </a:xfrm>
          <a:prstGeom prst="rightArrow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0128" y="1243584"/>
            <a:ext cx="2761488" cy="3520440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07992" y="1444752"/>
            <a:ext cx="365760" cy="36576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44752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19856" y="1938528"/>
            <a:ext cx="2542032" cy="6400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Nhà trường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19856" y="2633472"/>
            <a:ext cx="2542032" cy="17830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KTX / tòa UTEHY làm chỗ thử.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089904" y="2697480"/>
            <a:ext cx="164592" cy="219456"/>
          </a:xfrm>
          <a:prstGeom prst="rightArrow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4496" y="1243584"/>
            <a:ext cx="2761488" cy="3520440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52360" y="1444752"/>
            <a:ext cx="365760" cy="36576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444752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64224" y="1938528"/>
            <a:ext cx="2542032" cy="6400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Nhà thầu PCCC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64224" y="2633472"/>
            <a:ext cx="2542032" cy="17830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Bán như module bổ sung, không thay báo cháy.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9034272" y="2697480"/>
            <a:ext cx="164592" cy="219456"/>
          </a:xfrm>
          <a:prstGeom prst="rightArrow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98864" y="1243584"/>
            <a:ext cx="2761488" cy="3520440"/>
          </a:xfrm>
          <a:prstGeom prst="roundRect">
            <a:avLst/>
          </a:prstGeom>
          <a:solidFill>
            <a:srgbClr val="F3F6FA"/>
          </a:solidFill>
          <a:ln w="14604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96728" y="1444752"/>
            <a:ext cx="365760" cy="36576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1444752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08592" y="1938528"/>
            <a:ext cx="2542032" cy="6400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Pilot 1 tầng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08592" y="2633472"/>
            <a:ext cx="2542032" cy="17830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Đo ổn định rồi mới mở rộng.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80" y="4937760"/>
            <a:ext cx="11338560" cy="10515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Mục tiêu giai đoạn 1: 1–2 công trình thử. Không đặt 15 tòa ngay năm đầu.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6. Mô hình kinh doanh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841248"/>
            <a:ext cx="3657600" cy="2011680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950976"/>
            <a:ext cx="3438144" cy="45720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Người dùng?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8" y="1444752"/>
            <a:ext cx="3438144" cy="123444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Cư dân, bảo vệ, trực ca — không trả tiền.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1960" y="841248"/>
            <a:ext cx="3657600" cy="2011680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950976"/>
            <a:ext cx="3438144" cy="45720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Người mua?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61688" y="1444752"/>
            <a:ext cx="3438144" cy="123444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Chủ nhà / BQL; kênh phụ nhà thầu PCCC.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841248"/>
            <a:ext cx="3657600" cy="2011680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7" y="950976"/>
            <a:ext cx="3438144" cy="45720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Kiếm tiền thế nào?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02167" y="1444752"/>
            <a:ext cx="3438144" cy="123444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Bán gói lắp đặt theo quy mô công trình.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2999232"/>
            <a:ext cx="11338560" cy="384048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Giá gói đã gồm thiết bị + nhân công lắp + bảo hành năm 1. Một server / tòa.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1480" y="3493008"/>
            <a:ext cx="3657600" cy="2423160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3657600"/>
            <a:ext cx="3438144" cy="45720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Thiết bị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1208" y="4169663"/>
            <a:ext cx="3438144" cy="1508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Giá vốn: node ~250k, server ~5,6 triệu. Không bán lẻ sát giá linh kiện.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251960" y="3493008"/>
            <a:ext cx="3657600" cy="2423160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3657600"/>
            <a:ext cx="3438144" cy="45720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Nhân công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61688" y="4169663"/>
            <a:ext cx="3438144" cy="1508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Khảo sát, lắp node/LED, chỉnh mesh, bàn giao hiện trường.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92440" y="3493008"/>
            <a:ext cx="3657600" cy="2423160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3657600"/>
            <a:ext cx="3438144" cy="45720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Bảo hành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02167" y="4169663"/>
            <a:ext cx="3438144" cy="1508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Năm 1 nằm trong gói. Bảo trì sau đó tính riêng khi khách giữ.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7. Bảng giá theo quy mô công trình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347472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Giá dự kiến — đã gồm thiết bị, lắp đặt, bảo hành năm 1. Chưa gồm chứng nhận PCCC.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94560"/>
                <a:gridCol w="4297680"/>
                <a:gridCol w="2560320"/>
              </a:tblGrid>
              <a:tr h="941832"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Gói</a:t>
                      </a:r>
                      <a:endParaRPr sz="210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1B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Số node</a:t>
                      </a:r>
                      <a:endParaRPr sz="210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1B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Đối tượng tham khảo</a:t>
                      </a:r>
                      <a:endParaRPr sz="210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1B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Giá dự kiến</a:t>
                      </a:r>
                      <a:endParaRPr sz="2100" b="1" i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1B3A5F"/>
                    </a:solidFill>
                  </a:tcPr>
                </a:tc>
              </a:tr>
              <a:tr h="941832">
                <a:tc>
                  <a:txBody>
                    <a:bodyPr wrap="square"/>
                    <a:lstStyle/>
                    <a:p>
                      <a:pPr algn="l"/>
                      <a:r>
                        <a:rPr sz="2100" b="1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WiEvac Mini</a:t>
                      </a:r>
                      <a:endParaRPr sz="2100" b="1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5–7 node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Nhà trọ, cửa hàng, cơ sở nhỏ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30–35 triệu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 wrap="square"/>
                    <a:lstStyle/>
                    <a:p>
                      <a:pPr algn="l"/>
                      <a:r>
                        <a:rPr sz="2100" b="1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WiEvac Standard</a:t>
                      </a:r>
                      <a:endParaRPr sz="2100" b="1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Khoảng 10 node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Nhà trọ lớn, trường học, cơ sở lưu trú nhỏ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Khoảng 50 triệu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EEF3F8"/>
                    </a:solidFill>
                  </a:tcPr>
                </a:tc>
              </a:tr>
              <a:tr h="941832">
                <a:tc>
                  <a:txBody>
                    <a:bodyPr wrap="square"/>
                    <a:lstStyle/>
                    <a:p>
                      <a:pPr algn="l"/>
                      <a:r>
                        <a:rPr sz="2100" b="1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WiEvac Plus</a:t>
                      </a:r>
                      <a:endParaRPr sz="2100" b="1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15–20 node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Công trình nhiều tầng, mặt bằng phức tạp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70–90 triệu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 wrap="square"/>
                    <a:lstStyle/>
                    <a:p>
                      <a:pPr algn="l"/>
                      <a:r>
                        <a:rPr sz="2100" b="1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WiEvac Custom</a:t>
                      </a:r>
                      <a:endParaRPr sz="2100" b="1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Trên 20 node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Công trình quy mô lớn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F1F1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Khảo sát và báo giá</a:t>
                      </a:r>
                      <a:endParaRPr sz="2100" b="0" i="0">
                        <a:solidFill>
                          <a:srgbClr val="1F1F1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3152" marR="7315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8. Vì sao bán theo gói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804672"/>
            <a:ext cx="3703320" cy="1261872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3703320" cy="53035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~7–10 triệu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3520439" cy="548639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Chỉ là linh kiện Mini–Plus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1960" y="804672"/>
            <a:ext cx="3703320" cy="1261872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877824"/>
            <a:ext cx="3703320" cy="53035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Thợ + bảo hành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43400" y="1426464"/>
            <a:ext cx="3520439" cy="548639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Phải nằm trong giá gói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804672"/>
            <a:ext cx="3657600" cy="1261872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877824"/>
            <a:ext cx="3657600" cy="53035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Lỗ vốn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83879" y="1426464"/>
            <a:ext cx="3474720" cy="548639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Nếu chỉ lấy giá linh kiện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74320" y="2121408"/>
          <a:ext cx="11521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5687568"/>
            <a:ext cx="11338560" cy="365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Phần chênh lệch trả nhân công, hiện trường, bảo hành — không phải lãi thuần.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9. Dự báo 3 năm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804672"/>
            <a:ext cx="3703320" cy="1207008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77824"/>
            <a:ext cx="3703320" cy="53035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~65 triệu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3520439" cy="4937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Năm 1  •  2 gói Mini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1960" y="804672"/>
            <a:ext cx="3703320" cy="120700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877824"/>
            <a:ext cx="3703320" cy="53035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~200 triệu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43400" y="1426464"/>
            <a:ext cx="3520439" cy="4937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Năm 2  •  5 gói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804672"/>
            <a:ext cx="3657600" cy="1207008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877824"/>
            <a:ext cx="3657600" cy="53035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~650 triệu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83879" y="1426464"/>
            <a:ext cx="3474720" cy="4937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Năm 3  •  14 gói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2066543"/>
            <a:ext cx="11338560" cy="347472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F1F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Năm 1: 2 Mini. Năm 2: 3 Mini + 2 Standard. Năm 3: 6 Mini + 6 Standard + 2 Plus.</a:t>
            </a:r>
            <a:endParaRPr sz="2100" b="0" i="0">
              <a:solidFill>
                <a:srgbClr val="1F1F1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228600" y="2395728"/>
          <a:ext cx="58064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126480" y="2395728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10. Tình trạng startup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822960"/>
            <a:ext cx="3657600" cy="2240280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3657600" cy="42062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2026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1353312"/>
            <a:ext cx="3401568" cy="365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Lab &amp; thử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7784" y="1755648"/>
            <a:ext cx="3364992" cy="10972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Prototype, đo UTEHY, 1–2 điểm thử.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087368" y="1737360"/>
            <a:ext cx="146304" cy="201168"/>
          </a:xfrm>
          <a:prstGeom prst="rightArrow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960" y="822960"/>
            <a:ext cx="3657600" cy="2240280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914400"/>
            <a:ext cx="3657600" cy="42062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2027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79976" y="1353312"/>
            <a:ext cx="3401568" cy="365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Pilot hẹp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98264" y="1755648"/>
            <a:ext cx="3364992" cy="10972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Vỏ, quy trình lắp, nhà thầu PCCC.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927848" y="1737360"/>
            <a:ext cx="146304" cy="201168"/>
          </a:xfrm>
          <a:prstGeom prst="rightArrow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822960"/>
            <a:ext cx="3657600" cy="2240280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914400"/>
            <a:ext cx="3657600" cy="42062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2028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0456" y="1353312"/>
            <a:ext cx="3401568" cy="365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Mở rộng chậm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38744" y="1755648"/>
            <a:ext cx="3364992" cy="109728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10–18 tòa nếu kênh chạy. Chưa hứa chứng chỉ.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" y="3200400"/>
            <a:ext cx="11338560" cy="329184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B3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Hiện nhóm đang ở đâu — nhóm sinh viên, chưa thành lập công ty.</a:t>
            </a:r>
            <a:endParaRPr sz="2200" b="1" i="0">
              <a:solidFill>
                <a:srgbClr val="1B3A5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1480" y="3602736"/>
            <a:ext cx="3657600" cy="2331720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30752"/>
            <a:ext cx="3474720" cy="438912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Đã làm được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496" y="4224528"/>
            <a:ext cx="3401568" cy="1508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Firmware CSI, mesh và dashboard local.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51960" y="3602736"/>
            <a:ext cx="3657600" cy="2331720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730752"/>
            <a:ext cx="3474720" cy="438912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Đang làm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79976" y="4224528"/>
            <a:ext cx="3401568" cy="1508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Prototype, đo tại UTEHY, tìm 1–2 hành lang thử.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92440" y="3602736"/>
            <a:ext cx="3657600" cy="2331720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3730752"/>
            <a:ext cx="3474720" cy="438912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Chưa có</a:t>
            </a:r>
            <a:endParaRPr sz="22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0456" y="4224528"/>
            <a:ext cx="3401568" cy="1508760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Công ty, chứng nhận PCCC, khách trả tiền.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11. Tổng kết và kêu gọi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822960"/>
            <a:ext cx="11338560" cy="960120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822960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“Khi khói che mắt — sóng vẫn chỉ đường.”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938528"/>
            <a:ext cx="3703320" cy="1207008"/>
          </a:xfrm>
          <a:prstGeom prst="round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3703320" cy="53035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120 triệu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3520439" cy="4937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Nhu cầu hỗ trợ 12 tháng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60" y="1938528"/>
            <a:ext cx="3703320" cy="120700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2011680"/>
            <a:ext cx="3703320" cy="53035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1–2 điểm thử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43400" y="2560320"/>
            <a:ext cx="3520439" cy="4937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Hỗ trợ phi tài chính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92440" y="1938528"/>
            <a:ext cx="3657600" cy="1207008"/>
          </a:xfrm>
          <a:prstGeom prst="roundRect">
            <a:avLst/>
          </a:prstGeom>
          <a:solidFill>
            <a:srgbClr val="C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011680"/>
            <a:ext cx="3657600" cy="530352"/>
          </a:xfrm>
          <a:prstGeom prst="rect">
            <a:avLst/>
          </a:prstGeom>
          <a:noFill/>
        </p:spPr>
        <p:txBody>
          <a:bodyPr wrap="square" lIns="50000" tIns="20000" rIns="50000" bIns="2000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Chỗ thử UTEHY</a:t>
            </a:r>
            <a:endParaRPr sz="260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83879" y="2560320"/>
            <a:ext cx="3474720" cy="493776"/>
          </a:xfrm>
          <a:prstGeom prst="rect">
            <a:avLst/>
          </a:prstGeom>
          <a:noFill/>
        </p:spPr>
        <p:txBody>
          <a:bodyPr wrap="square" lIns="50000" tIns="20000" rIns="50000" bIns="20000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Hỗ trợ kỹ thuật và lab</a:t>
            </a:r>
            <a:endParaRPr sz="2100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20040" y="3246120"/>
          <a:ext cx="11475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3645</Words>
  <Application>WPS Presentation</Application>
  <PresentationFormat>Converted Presentation</PresentationFormat>
  <Paragraphs>287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Arial</vt:lpstr>
      <vt:lpstr>Microsoft YaHei</vt:lpstr>
      <vt:lpstr>Arial Unicode MS</vt:lpstr>
      <vt:lpstr>Calibri</vt:lpstr>
      <vt:lpstr>Office Theme</vt:lpstr>
      <vt:lpstr>Hệ thống hỗ trợ thoát hiểm bằng Wi-Fi CSI</vt:lpstr>
      <vt:lpstr>1. Vấn đề</vt:lpstr>
      <vt:lpstr>2. Giải pháp</vt:lpstr>
      <vt:lpstr>3. Giá trị khác biệt</vt:lpstr>
      <vt:lpstr>4. Bản đồ cạnh tranh</vt:lpstr>
      <vt:lpstr>5. Marketing &amp; sale</vt:lpstr>
      <vt:lpstr>6. Mô hình kinh doanh</vt:lpstr>
      <vt:lpstr>7. Bảng giá theo quy mô công trình</vt:lpstr>
      <vt:lpstr>8. Vì sao bán theo gói</vt:lpstr>
      <vt:lpstr>9. Dự báo 3 năm</vt:lpstr>
      <vt:lpstr>10. Tình trạng startup</vt:lpstr>
      <vt:lpstr>11. Tổng kết và kêu gọi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WiEvacHệ thống hỗ trợ thoát hiểm bằng Wi-Fi CSI</dc:title>
  <dc:creator>Nhóm WiEvac — Khoa CNTT, UTEHY</dc:creator>
  <cp:lastModifiedBy>Dũng Phạm</cp:lastModifiedBy>
  <cp:revision>1</cp:revision>
  <dcterms:created xsi:type="dcterms:W3CDTF">2026-09-11T16:57:10Z</dcterms:created>
  <dcterms:modified xsi:type="dcterms:W3CDTF">2026-09-11T16:57:10Z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2DCA3C32C3F54AAE845487233C18C0E5_12</vt:lpwstr>
  </property>
</Properties>
</file>